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[0:00 - 0:15] Добрый день, уважаемое жюри! Мы команда GASH.Контроль (Madi Zhassymbek, Amire Kaliya, Zhankerey Askaruly, Damir Ibatullin) и мы представляем автономный AI-сервис для выявления нарушений кассовой дисциплины по видеозаписям внутри закрытого контура банка.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[0:15 - 0:40] В каждом отделении банка кассовые узлы находятся под прицелом видеокамер. Но отсматривать вручную сотни часов видеоархива физически невозможно. При этом передавать банковское видео во внешние облака строго запрещено ИБ, а пропуск незапертого сейфа или выдачи денег без пересчёта несёт прямые операционные риски.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[0:40 - 1:05] Наше решение — GASH.Контроль — сокращает время проверки одного видеоролика с 5–10 минут до 10 секунд. Сервис работает полностью локально, использует двухмодельную систему ИИ, извлекает стоп-кадры доказательств и сразу привязывает их к пункту Постановления НБРК.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[1:05 - 1:30] Путь пользователя состоит из 4 шагов: пакетная загрузка до 10 видеороликов .mov, двухуровневый локальный анализ в пуле потоков, получение вердикта с импульсным спектром таймкодов и переход в 1 клик к нужному кадру и правилу НБРК.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[1:30 - 2:15] На слайде представлен наш рабочий интерфейс GASH.Контроль. Слева в чёрном блоке — пакетная очередь до 10 видео с прогрессом проверки и быстрым переключением. Справа — адаптивный плеер под вертикальные камеры 464x848, выбор скорости 0.25x–1.5x, импульсный спектр событий и карточки с кадрами-доказательствами.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[2:15 - 2:45] Весь стек работает внутри закрытого контура банка без доступа в интернет. Сервер на FastAPI одновременно раздаёт React-интерфейс с локальными бандлами /vendor и запускает двухмодельное AI-ядро через асинхронный пул потоков.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[2:45 - 3:25] На слайде 7 представлена ключевая особенность нашего подхода — двухмодельная архитектура ИИ. Первая модель отвечает за микро-уровень: она находит и классифицирует объекты в кадре (купюры, инкассаторские сумки, дверцу сейфа, людей). Вторая модель смотрит на общую картину сцены в динамике и определяет, является ли взаимодействие нарушением регламента НБРК. Такое разделение даёт высокую устойчивость к смене ракурса камеры.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[3:25 - 3:50] Особое внимание мы уделили критерию 4 — привязке к нормативной базе РК. Мы не генерируем ссылки нейросетью, чтобы исключить галлюцинации. Каждому классу визуального нарушения сопоставлен точный пункт действующих Постановлений Правления НБРК № 231 и № 250 из официальной базы Әділет.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[3:50 - 4:10] Кто целевые пользователи нашего продукта внутри банка? Это департамент кассовых операций, служба внутреннего аудита и комплаенса, а также служба банковской безопасности. Решение может быть тиражировано на все отделения БВУ Казахстана.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[4:10 - 4:30] Чем GASH.Контроль отличается от базовых прототипов? Во-первых, двухмодельной системой ИИ (объекты + общая картина). Во-вторых, пакетной очередью до 10 видео за сеанс. И в-третьих, адаптацией под реальные вертикальные камеры кассы 464x848 со спектром событий и замедлением 0.25x.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[4:30 - 4:50] Мы честно оцениваем текущие ограничения в соответствии с разделом 8 ТЗ: при сильном перекрытии стола спиной кассира мелкие детали в руках могут быть не видны, а системные проводки в АБИС по видео не проверяются. Наш Roadmap на 1–3 месяца включает калибровку зон в 2 клика под любой ракурс и подключение живых RTSP-потоков.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[4:50 - 5:00] Спасибо за внимание! Наш сервис GASH.Контроль запущен и готов к живой демонстрации и автоматической проверке по API. Будем рады ответить на ваши вопросы!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C81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GASH.Контроль // AI COMPLIANCE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292608"/>
            <a:ext cx="5696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A8A6B3"/>
                </a:solidFill>
                <a:latin typeface="Consolas"/>
              </a:defRPr>
            </a:pPr>
            <a:r>
              <a:t>СЛАЙД 01 / 12  ·  FORTEBANK DATATHON 26 · КЕЙС: ВИДЕОКОНТРОЛЬ КАССЫ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094415" cy="13716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78992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9B"/>
                </a:solidFill>
                <a:latin typeface="Consolas"/>
              </a:defRPr>
            </a:pPr>
            <a:r>
              <a:t>● 100% ON-PREMISE  ·  ДВУХМОДЕЛЬНОЕ ЯДРО ИИ  ·  НОРМАТИВНАЯ БАЗА НБРК</a:t>
            </a:r>
          </a:p>
          <a:p>
            <a:pPr>
              <a:spcBef>
                <a:spcPts val="1000"/>
              </a:spcBef>
              <a:defRPr sz="4600" b="1">
                <a:solidFill>
                  <a:srgbClr val="FFFFFF"/>
                </a:solidFill>
                <a:latin typeface="Arial"/>
              </a:defRPr>
            </a:pPr>
            <a:r>
              <a:t>GASH.Контроль</a:t>
            </a:r>
          </a:p>
          <a:p>
            <a:pPr>
              <a:spcBef>
                <a:spcPts val="1200"/>
              </a:spcBef>
              <a:defRPr sz="1600">
                <a:solidFill>
                  <a:srgbClr val="A8A6B3"/>
                </a:solidFill>
                <a:latin typeface="Arial"/>
              </a:defRPr>
            </a:pPr>
            <a:r>
              <a:t>Автоматизированный AI-аудит кассовой дисциплины по видеозаписям камер наблюдения: точный таймкод инцидента, стоп-кадры доказательств и привязка к актам НБРК за секунды.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0624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4370831"/>
            <a:ext cx="3118104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СТЕК РЕШЕНИЯ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React 18 + FastAPI + Dual AI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Полностью автономная работа на локальном сервере банка + публичный REST API для автопроверки жюри.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420624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4370831"/>
            <a:ext cx="3118104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ЮРИДИЧЕСКАЯ ТОЧНОСТЬ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Постановления НБРК № 231 и № 250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Верифицированные ссылки на официальный реестр НПА РК (adilet.zan.kz) без выдуманных статей.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420624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991B47"/>
          </a:solidFill>
          <a:ln>
            <a:solidFill>
              <a:srgbClr val="C81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4370831"/>
            <a:ext cx="3118104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onsolas"/>
              </a:defRPr>
            </a:pPr>
            <a:r>
              <a:t>КОМАНДА ПРОЕКТА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GASH.Контроль Team</a:t>
            </a:r>
          </a:p>
          <a:p>
            <a:pPr>
              <a:spcBef>
                <a:spcPts val="400"/>
              </a:spcBef>
              <a:defRPr sz="1100">
                <a:solidFill>
                  <a:srgbClr val="F5E6EC"/>
                </a:solidFill>
                <a:latin typeface="Arial"/>
              </a:defRPr>
            </a:pPr>
            <a:r>
              <a:t>ML / Computer Vision – Madi Zhassymbek</a:t>
            </a:r>
          </a:p>
          <a:p>
            <a:pPr>
              <a:spcBef>
                <a:spcPts val="400"/>
              </a:spcBef>
              <a:defRPr sz="1100">
                <a:solidFill>
                  <a:srgbClr val="F5E6EC"/>
                </a:solidFill>
                <a:latin typeface="Arial"/>
              </a:defRPr>
            </a:pPr>
            <a:r>
              <a:t>Backend FastAPI – Amire Kaliya</a:t>
            </a:r>
          </a:p>
          <a:p>
            <a:pPr>
              <a:spcBef>
                <a:spcPts val="400"/>
              </a:spcBef>
              <a:defRPr sz="1100">
                <a:solidFill>
                  <a:srgbClr val="F5E6EC"/>
                </a:solidFill>
                <a:latin typeface="Arial"/>
              </a:defRPr>
            </a:pPr>
            <a:r>
              <a:t>Frontend UI/UX – Zhankerey Askaruly</a:t>
            </a:r>
          </a:p>
          <a:p>
            <a:pPr>
              <a:spcBef>
                <a:spcPts val="400"/>
              </a:spcBef>
              <a:defRPr sz="1100">
                <a:solidFill>
                  <a:srgbClr val="F5E6EC"/>
                </a:solidFill>
                <a:latin typeface="Arial"/>
              </a:defRPr>
            </a:pPr>
            <a:r>
              <a:t>Data Analyst – Damir Ibatullin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C81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1416"/>
                </a:solidFill>
                <a:latin typeface="Arial"/>
              </a:defRPr>
            </a:pPr>
            <a:r>
              <a:t>GASH.Контроль // AI COMPLIANCE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292608"/>
            <a:ext cx="5696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64"/>
                </a:solidFill>
                <a:latin typeface="Consolas"/>
              </a:defRPr>
            </a:pPr>
            <a:r>
              <a:t>СЛАЙД 02 / 12  ·  ПРОБЛЕМА И БОЛЬ ЗАКАЗЧИКА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094415" cy="13716"/>
          </a:xfrm>
          <a:prstGeom prst="rect">
            <a:avLst/>
          </a:prstGeom>
          <a:solidFill>
            <a:srgbClr val="D8D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944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81E58"/>
                </a:solidFill>
                <a:latin typeface="Consolas"/>
              </a:defRPr>
            </a:pPr>
            <a:r>
              <a:t>01 // АКТУАЛЬНОСТЬ КЕЙСА</a:t>
            </a:r>
          </a:p>
          <a:p>
            <a:pPr>
              <a:spcBef>
                <a:spcPts val="400"/>
              </a:spcBef>
              <a:defRPr sz="2400" b="1">
                <a:solidFill>
                  <a:srgbClr val="141416"/>
                </a:solidFill>
                <a:latin typeface="Arial"/>
              </a:defRPr>
            </a:pPr>
            <a:r>
              <a:t>Ручной видеоконтроль кассовых узлов не масштабируется</a:t>
            </a:r>
          </a:p>
          <a:p>
            <a:pPr>
              <a:spcBef>
                <a:spcPts val="400"/>
              </a:spcBef>
              <a:defRPr sz="1300">
                <a:solidFill>
                  <a:srgbClr val="5A5A64"/>
                </a:solidFill>
                <a:latin typeface="Arial"/>
              </a:defRPr>
            </a:pPr>
            <a:r>
              <a:t>Служба внутреннего контроля и безопасности сталкивается с тремя критическими барьерами при проверке видеозаписей с касс.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3520440" cy="324612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450592"/>
            <a:ext cx="3118104" cy="2916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91B47"/>
                </a:solidFill>
                <a:latin typeface="Consolas"/>
              </a:defRPr>
            </a:pPr>
            <a:r>
              <a:t>МАСШТАБ АРХИВА</a:t>
            </a:r>
          </a:p>
          <a:p>
            <a:pPr>
              <a:spcBef>
                <a:spcPts val="600"/>
              </a:spcBef>
              <a:defRPr sz="2600" b="1">
                <a:solidFill>
                  <a:srgbClr val="C81E58"/>
                </a:solidFill>
                <a:latin typeface="Arial"/>
              </a:defRPr>
            </a:pPr>
            <a:r>
              <a:t>8–10 ч/день</a:t>
            </a:r>
          </a:p>
          <a:p>
            <a:pPr>
              <a:spcBef>
                <a:spcPts val="600"/>
              </a:spcBef>
              <a:defRPr sz="1450" b="1">
                <a:solidFill>
                  <a:srgbClr val="141416"/>
                </a:solidFill>
                <a:latin typeface="Arial"/>
              </a:defRPr>
            </a:pPr>
            <a:r>
              <a:t>Сотни часов видео с каждой кассы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Физически невозможно вручную отсматривать каждую минуту работы всех кассиров филиальной сети.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Проверяются лишь случайные выборки.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2286000"/>
            <a:ext cx="3520440" cy="324612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2450592"/>
            <a:ext cx="3118104" cy="2916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91B47"/>
                </a:solidFill>
                <a:latin typeface="Consolas"/>
              </a:defRPr>
            </a:pPr>
            <a:r>
              <a:t>ЧЕЛОВЕЧЕСКИЙ ФАКТОР</a:t>
            </a:r>
          </a:p>
          <a:p>
            <a:pPr>
              <a:spcBef>
                <a:spcPts val="600"/>
              </a:spcBef>
              <a:defRPr sz="2600" b="1">
                <a:solidFill>
                  <a:srgbClr val="C81E58"/>
                </a:solidFill>
                <a:latin typeface="Arial"/>
              </a:defRPr>
            </a:pPr>
            <a:r>
              <a:t>Риск пропуска</a:t>
            </a:r>
          </a:p>
          <a:p>
            <a:pPr>
              <a:spcBef>
                <a:spcPts val="600"/>
              </a:spcBef>
              <a:defRPr sz="1450" b="1">
                <a:solidFill>
                  <a:srgbClr val="141416"/>
                </a:solidFill>
                <a:latin typeface="Arial"/>
              </a:defRPr>
            </a:pPr>
            <a:r>
              <a:t>Монотонность снижает внимание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При ускоренном просмотре легко упустить 3-секундный эпизод передачи пачки купюр мимо счётчика или незапертый сейф.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2286000"/>
            <a:ext cx="3520440" cy="3246120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450592"/>
            <a:ext cx="3118104" cy="2916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БАНКОВСКАЯ ТАЙНА (ИБ)</a:t>
            </a:r>
          </a:p>
          <a:p>
            <a:pPr>
              <a:spcBef>
                <a:spcPts val="600"/>
              </a:spcBef>
              <a:defRPr sz="2600" b="1">
                <a:solidFill>
                  <a:srgbClr val="FF6B9B"/>
                </a:solidFill>
                <a:latin typeface="Arial"/>
              </a:defRPr>
            </a:pPr>
            <a:r>
              <a:t>0% Облаков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Запрет на внешние AI-облака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Видео из кассового узла нельзя отправлять в OpenAI, Claude или Gemini.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Требуется на 100% локальное решение внутри контура банка.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87568"/>
            <a:ext cx="11094415" cy="777240"/>
          </a:xfrm>
          <a:prstGeom prst="roundRect">
            <a:avLst>
              <a:gd name="adj" fmla="val 4000"/>
            </a:avLst>
          </a:prstGeom>
          <a:solidFill>
            <a:srgbClr val="991B47"/>
          </a:solidFill>
          <a:ln>
            <a:solidFill>
              <a:srgbClr val="C81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5852159"/>
            <a:ext cx="10692079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onsolas"/>
              </a:defRPr>
            </a:pPr>
            <a:r>
              <a:t>ИТОГ ДЛЯ БАНКА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Нужен 100% локальный AI-навигатор, который сам находит секунду нарушения и подаёт проверяющему готовое досье.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C81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1416"/>
                </a:solidFill>
                <a:latin typeface="Arial"/>
              </a:defRPr>
            </a:pPr>
            <a:r>
              <a:t>GASH.Контроль // AI COMPLIANCE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292608"/>
            <a:ext cx="5696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64"/>
                </a:solidFill>
                <a:latin typeface="Consolas"/>
              </a:defRPr>
            </a:pPr>
            <a:r>
              <a:t>СЛАЙД 03 / 12  ·  ЦЕННОСТНОЕ ПРЕДЛОЖЕНИЕ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094415" cy="13716"/>
          </a:xfrm>
          <a:prstGeom prst="rect">
            <a:avLst/>
          </a:prstGeom>
          <a:solidFill>
            <a:srgbClr val="D8D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944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81E58"/>
                </a:solidFill>
                <a:latin typeface="Consolas"/>
              </a:defRPr>
            </a:pPr>
            <a:r>
              <a:t>02 // НАШЕ РЕШЕНИЕ</a:t>
            </a:r>
          </a:p>
          <a:p>
            <a:pPr>
              <a:spcBef>
                <a:spcPts val="400"/>
              </a:spcBef>
              <a:defRPr sz="2400" b="1">
                <a:solidFill>
                  <a:srgbClr val="141416"/>
                </a:solidFill>
                <a:latin typeface="Arial"/>
              </a:defRPr>
            </a:pPr>
            <a:r>
              <a:t>GASH.Контроль — ИИ-ассистент кассового ревизора</a:t>
            </a:r>
          </a:p>
          <a:p>
            <a:pPr>
              <a:spcBef>
                <a:spcPts val="400"/>
              </a:spcBef>
              <a:defRPr sz="1300">
                <a:solidFill>
                  <a:srgbClr val="5A5A64"/>
                </a:solidFill>
                <a:latin typeface="Arial"/>
              </a:defRPr>
            </a:pPr>
            <a:r>
              <a:t>Готовый веб-сервис и REST API для автоматической инспекции видеозаписей (.mov), разворачиваемый на одном локальном сервере.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120640" cy="4023360"/>
          </a:xfrm>
          <a:prstGeom prst="roundRect">
            <a:avLst>
              <a:gd name="adj" fmla="val 4000"/>
            </a:avLst>
          </a:prstGeom>
          <a:solidFill>
            <a:srgbClr val="991B47"/>
          </a:solidFill>
          <a:ln>
            <a:solidFill>
              <a:srgbClr val="C81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450592"/>
            <a:ext cx="4718303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onsolas"/>
              </a:defRPr>
            </a:pPr>
            <a:r>
              <a:t>ГЛАВНАЯ ЦЕННОСТЬ ПРОДУКТА</a:t>
            </a:r>
          </a:p>
          <a:p>
            <a:pPr>
              <a:spcBef>
                <a:spcPts val="600"/>
              </a:spcBef>
              <a:defRPr sz="2600" b="1">
                <a:solidFill>
                  <a:srgbClr val="FFFFFF"/>
                </a:solidFill>
                <a:latin typeface="Arial"/>
              </a:defRPr>
            </a:pPr>
            <a:r>
              <a:t>В 30 раз быстрее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Проверка ролика за 10 секунд вместо 5–10 минут ручного отсмотра</a:t>
            </a:r>
          </a:p>
          <a:p>
            <a:pPr>
              <a:spcBef>
                <a:spcPts val="400"/>
              </a:spcBef>
              <a:defRPr sz="1100">
                <a:solidFill>
                  <a:srgbClr val="F5E6EC"/>
                </a:solidFill>
                <a:latin typeface="Arial"/>
              </a:defRPr>
            </a:pPr>
            <a:r>
              <a:t>Сотрудник контроля не тратит время на пустые минуты видео: система сразу перематывает плеер на таймкод инцидента и показывает стоп-кадры с нормой закона.</a:t>
            </a:r>
          </a:p>
          <a:p>
            <a:pPr>
              <a:spcBef>
                <a:spcPts val="400"/>
              </a:spcBef>
              <a:defRPr sz="1100">
                <a:solidFill>
                  <a:srgbClr val="F5E6EC"/>
                </a:solidFill>
                <a:latin typeface="Arial"/>
              </a:defRPr>
            </a:pPr>
            <a:r>
              <a:t>Пакетная обработка до 10 видеороликов одновременно.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943600" y="2286000"/>
            <a:ext cx="5696712" cy="402336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144768" y="2450592"/>
            <a:ext cx="5294376" cy="3694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91B47"/>
                </a:solidFill>
                <a:latin typeface="Consolas"/>
              </a:defRPr>
            </a:pPr>
            <a:r>
              <a:t>4 СТОЛПА GASH.Контроль</a:t>
            </a:r>
          </a:p>
          <a:p>
            <a:pPr>
              <a:spcBef>
                <a:spcPts val="600"/>
              </a:spcBef>
              <a:defRPr sz="1450" b="1">
                <a:solidFill>
                  <a:srgbClr val="141416"/>
                </a:solidFill>
                <a:latin typeface="Arial"/>
              </a:defRPr>
            </a:pPr>
            <a:r>
              <a:t>Комплексное закрытие задачи комплаенса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Двухмодельный ИИ-анализ: Модель 1 классифицирует объекты в кадре, Модель 2 оценивает общую картину и контекст сцены.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Точная временна́я локализация и доказательства: Выделение таймкода (timecode_sec) и 1–3 ключевых кадров (JPEG base64).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Юридическая верификация РК: Привязка к реальным главам Постановлений НБРК № 231 и № 250 (adilet.zan.kz).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Human-in-the-Loop (Раздел 7 ТЗ): Надёжная навигационная подсказка для финального решения специалиста.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C81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1416"/>
                </a:solidFill>
                <a:latin typeface="Arial"/>
              </a:defRPr>
            </a:pPr>
            <a:r>
              <a:t>GASH.Контроль // AI COMPLIANCE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292608"/>
            <a:ext cx="5696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64"/>
                </a:solidFill>
                <a:latin typeface="Consolas"/>
              </a:defRPr>
            </a:pPr>
            <a:r>
              <a:t>СЛАЙД 04 / 12  ·  КАК ЭТО РАБОТАЕТ (USER FLOW)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094415" cy="13716"/>
          </a:xfrm>
          <a:prstGeom prst="rect">
            <a:avLst/>
          </a:prstGeom>
          <a:solidFill>
            <a:srgbClr val="D8D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944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81E58"/>
                </a:solidFill>
                <a:latin typeface="Consolas"/>
              </a:defRPr>
            </a:pPr>
            <a:r>
              <a:t>03 // ПОЛЬЗОВАТЕЛЬСКИЙ СЦЕНАРИЙ</a:t>
            </a:r>
          </a:p>
          <a:p>
            <a:pPr>
              <a:spcBef>
                <a:spcPts val="400"/>
              </a:spcBef>
              <a:defRPr sz="2400" b="1">
                <a:solidFill>
                  <a:srgbClr val="141416"/>
                </a:solidFill>
                <a:latin typeface="Arial"/>
              </a:defRPr>
            </a:pPr>
            <a:r>
              <a:t>От сырого видео .mov до готового заключения за 4 шага</a:t>
            </a:r>
          </a:p>
          <a:p>
            <a:pPr>
              <a:spcBef>
                <a:spcPts val="400"/>
              </a:spcBef>
              <a:defRPr sz="1300">
                <a:solidFill>
                  <a:srgbClr val="5A5A64"/>
                </a:solidFill>
                <a:latin typeface="Arial"/>
              </a:defRPr>
            </a:pPr>
            <a:r>
              <a:t>Полный цикл работы проверяющего в веб-интерфейсе или через автоматизированный API-скрипт жюри.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2587752" cy="329184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450592"/>
            <a:ext cx="2185416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91B47"/>
                </a:solidFill>
                <a:latin typeface="Consolas"/>
              </a:defRPr>
            </a:pPr>
            <a:r>
              <a:t>ШАГ 01 // ОЧЕРЕДЬ</a:t>
            </a:r>
          </a:p>
          <a:p>
            <a:pPr>
              <a:spcBef>
                <a:spcPts val="600"/>
              </a:spcBef>
              <a:defRPr sz="2600" b="1">
                <a:solidFill>
                  <a:srgbClr val="C81E58"/>
                </a:solidFill>
                <a:latin typeface="Arial"/>
              </a:defRPr>
            </a:pPr>
            <a:r>
              <a:t>01</a:t>
            </a:r>
          </a:p>
          <a:p>
            <a:pPr>
              <a:spcBef>
                <a:spcPts val="600"/>
              </a:spcBef>
              <a:defRPr sz="1450" b="1">
                <a:solidFill>
                  <a:srgbClr val="141416"/>
                </a:solidFill>
                <a:latin typeface="Arial"/>
              </a:defRPr>
            </a:pPr>
            <a:r>
              <a:t>Загрузка 1–10 видео .mov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Ревизор перетаскивает пачку видео со смены в левый пульт управления или вызывает POST /api/v1/analyze.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286000"/>
            <a:ext cx="2587752" cy="329184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2450592"/>
            <a:ext cx="2185416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91B47"/>
                </a:solidFill>
                <a:latin typeface="Consolas"/>
              </a:defRPr>
            </a:pPr>
            <a:r>
              <a:t>ШАГ 02 // DUAL AI</a:t>
            </a:r>
          </a:p>
          <a:p>
            <a:pPr>
              <a:spcBef>
                <a:spcPts val="600"/>
              </a:spcBef>
              <a:defRPr sz="2600" b="1">
                <a:solidFill>
                  <a:srgbClr val="C81E58"/>
                </a:solidFill>
                <a:latin typeface="Arial"/>
              </a:defRPr>
            </a:pPr>
            <a:r>
              <a:t>02</a:t>
            </a:r>
          </a:p>
          <a:p>
            <a:pPr>
              <a:spcBef>
                <a:spcPts val="600"/>
              </a:spcBef>
              <a:defRPr sz="1450" b="1">
                <a:solidFill>
                  <a:srgbClr val="141416"/>
                </a:solidFill>
                <a:latin typeface="Arial"/>
              </a:defRPr>
            </a:pPr>
            <a:r>
              <a:t>Двухуровневый анализ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Модель 1 находит и классифицирует объекты (купюры, сумки, сейф, людей), а Модель 2 анализирует общую картину сцены.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86000"/>
            <a:ext cx="2587752" cy="329184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450592"/>
            <a:ext cx="2185416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91B47"/>
                </a:solidFill>
                <a:latin typeface="Consolas"/>
              </a:defRPr>
            </a:pPr>
            <a:r>
              <a:t>ШАГ 03 // ВЕРДИКТ</a:t>
            </a:r>
          </a:p>
          <a:p>
            <a:pPr>
              <a:spcBef>
                <a:spcPts val="600"/>
              </a:spcBef>
              <a:defRPr sz="2600" b="1">
                <a:solidFill>
                  <a:srgbClr val="C81E58"/>
                </a:solidFill>
                <a:latin typeface="Arial"/>
              </a:defRPr>
            </a:pPr>
            <a:r>
              <a:t>03</a:t>
            </a:r>
          </a:p>
          <a:p>
            <a:pPr>
              <a:spcBef>
                <a:spcPts val="600"/>
              </a:spcBef>
              <a:defRPr sz="1450" b="1">
                <a:solidFill>
                  <a:srgbClr val="141416"/>
                </a:solidFill>
                <a:latin typeface="Arial"/>
              </a:defRPr>
            </a:pPr>
            <a:r>
              <a:t>Вердикт + Спектр таймкодов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Выводится официальный статус по ТЗ и рубиновые пики событий на интерактивной шкале времени.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2286000"/>
            <a:ext cx="2587752" cy="329184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53728" y="2450592"/>
            <a:ext cx="2185416" cy="2962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91B47"/>
                </a:solidFill>
                <a:latin typeface="Consolas"/>
              </a:defRPr>
            </a:pPr>
            <a:r>
              <a:t>ШАГ 04 // ДОКАЗАТЕЛЬСТВА</a:t>
            </a:r>
          </a:p>
          <a:p>
            <a:pPr>
              <a:spcBef>
                <a:spcPts val="600"/>
              </a:spcBef>
              <a:defRPr sz="2600" b="1">
                <a:solidFill>
                  <a:srgbClr val="C81E58"/>
                </a:solidFill>
                <a:latin typeface="Arial"/>
              </a:defRPr>
            </a:pPr>
            <a:r>
              <a:t>04</a:t>
            </a:r>
          </a:p>
          <a:p>
            <a:pPr>
              <a:spcBef>
                <a:spcPts val="600"/>
              </a:spcBef>
              <a:defRPr sz="1450" b="1">
                <a:solidFill>
                  <a:srgbClr val="141416"/>
                </a:solidFill>
                <a:latin typeface="Arial"/>
              </a:defRPr>
            </a:pPr>
            <a:r>
              <a:t>Кадр + Норма НБРК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Клик по карточке перематывает плеер на секунду инцидента, открывает стоп-кадры и статью Постановления НБРК.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5715000"/>
            <a:ext cx="11094415" cy="749808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49808" y="5879592"/>
            <a:ext cx="10692079" cy="4206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ПАРАЛЛЕЛЬНАЯ РАБОТА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Во время анализа остальных роликов в очереди проверяющий уже может переключаться и изучать готовые результаты.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C81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1416"/>
                </a:solidFill>
                <a:latin typeface="Arial"/>
              </a:defRPr>
            </a:pPr>
            <a:r>
              <a:t>GASH.Контроль // AI COMPLIANCE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292608"/>
            <a:ext cx="5696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64"/>
                </a:solidFill>
                <a:latin typeface="Consolas"/>
              </a:defRPr>
            </a:pPr>
            <a:r>
              <a:t>СЛАЙД 05 / 12  ·  ДЕМОНСТРАЦИЯ ИНТЕРФЕЙСА (HTTP://LOCALHOST:8000)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094415" cy="13716"/>
          </a:xfrm>
          <a:prstGeom prst="rect">
            <a:avLst/>
          </a:prstGeom>
          <a:solidFill>
            <a:srgbClr val="D8D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944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81E58"/>
                </a:solidFill>
                <a:latin typeface="Consolas"/>
              </a:defRPr>
            </a:pPr>
            <a:r>
              <a:t>04 // ПРОДУКТОВЫЙ ИНТЕРФЕЙС</a:t>
            </a:r>
          </a:p>
          <a:p>
            <a:pPr>
              <a:spcBef>
                <a:spcPts val="400"/>
              </a:spcBef>
              <a:defRPr sz="2400" b="1">
                <a:solidFill>
                  <a:srgbClr val="141416"/>
                </a:solidFill>
                <a:latin typeface="Arial"/>
              </a:defRPr>
            </a:pPr>
            <a:r>
              <a:t>Рабочий пульт инспектора комплаенса (GASH.Контроль)</a:t>
            </a:r>
          </a:p>
          <a:p>
            <a:pPr>
              <a:spcBef>
                <a:spcPts val="400"/>
              </a:spcBef>
              <a:defRPr sz="1300">
                <a:solidFill>
                  <a:srgbClr val="5A5A64"/>
                </a:solidFill>
                <a:latin typeface="Arial"/>
              </a:defRPr>
            </a:pPr>
            <a:r>
              <a:t>Асимметричная студийная компоновка: чёрный пульт пакетной очереди слева + редакционный холст расследования справа.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3566160" cy="4069080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450592"/>
            <a:ext cx="3163824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ЛЕВЫЙ ПУЛЬТ (OBSIDIAN SIDEBAR)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Пакетная очередь до 10 видео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Drag &amp; Drop загрузка от 1 до 10 файлов .mov за раз.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Индивидуальный прогресс-бар проверки каждого ролика и общий статус пачки.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Мгновенное переключение между результатами проверенных видео в 1 клик.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Складной справочник базы НПА РК (Постановления НБРК № 231 и № 250) в нижней части панели.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297680" y="2286000"/>
            <a:ext cx="3749039" cy="406908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98848" y="2450592"/>
            <a:ext cx="3346703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91B47"/>
                </a:solidFill>
                <a:latin typeface="Consolas"/>
              </a:defRPr>
            </a:pPr>
            <a:r>
              <a:t>ЦЕНТРАЛЬНЫЙ МОДУЛЬ ПЛЕЕРА</a:t>
            </a:r>
          </a:p>
          <a:p>
            <a:pPr>
              <a:spcBef>
                <a:spcPts val="600"/>
              </a:spcBef>
              <a:defRPr sz="1450" b="1">
                <a:solidFill>
                  <a:srgbClr val="141416"/>
                </a:solidFill>
                <a:latin typeface="Arial"/>
              </a:defRPr>
            </a:pPr>
            <a:r>
              <a:t>Вертикальный ракурс + Waveform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Нативная поддержка вертикальных камер кассы (464×848) без обрезки зоны двери и сейфа.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Регулятор скорости воспроизведения: 0.25x, 0.5x, 1x, 1.5x для детального разбора рук кассира.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Импульсный спектр событий (Waveform Timeline) с рубиновыми пиками на секундах нарушений.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229600" y="2286000"/>
            <a:ext cx="3410712" cy="4069080"/>
          </a:xfrm>
          <a:prstGeom prst="roundRect">
            <a:avLst>
              <a:gd name="adj" fmla="val 4000"/>
            </a:avLst>
          </a:prstGeom>
          <a:solidFill>
            <a:srgbClr val="991B47"/>
          </a:solidFill>
          <a:ln>
            <a:solidFill>
              <a:srgbClr val="C81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430768" y="2450592"/>
            <a:ext cx="3008376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onsolas"/>
              </a:defRPr>
            </a:pPr>
            <a:r>
              <a:t>ЛЕНТА ИНЦИДЕНТОВ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Доказательное досье</a:t>
            </a:r>
          </a:p>
          <a:p>
            <a:pPr>
              <a:spcBef>
                <a:spcPts val="400"/>
              </a:spcBef>
              <a:defRPr sz="1100">
                <a:solidFill>
                  <a:srgbClr val="F5E6EC"/>
                </a:solidFill>
                <a:latin typeface="Arial"/>
              </a:defRPr>
            </a:pPr>
            <a:r>
              <a:t>■ Официальный бинарный вердикт по стандарту ТЗ.</a:t>
            </a:r>
          </a:p>
          <a:p>
            <a:pPr>
              <a:spcBef>
                <a:spcPts val="400"/>
              </a:spcBef>
              <a:defRPr sz="1100">
                <a:solidFill>
                  <a:srgbClr val="F5E6EC"/>
                </a:solidFill>
                <a:latin typeface="Arial"/>
              </a:defRPr>
            </a:pPr>
            <a:r>
              <a:t>■ Раздельный вывод визуального описания действия и точного пункта Постановления НБРК.</a:t>
            </a:r>
          </a:p>
          <a:p>
            <a:pPr>
              <a:spcBef>
                <a:spcPts val="400"/>
              </a:spcBef>
              <a:defRPr sz="1100">
                <a:solidFill>
                  <a:srgbClr val="F5E6EC"/>
                </a:solidFill>
                <a:latin typeface="Arial"/>
              </a:defRPr>
            </a:pPr>
            <a:r>
              <a:t>■ Фототаблица кадров-доказательств (Base64) с полноэкранным лайтбоксом (✕).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C81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GASH.Контроль // AI COMPLIANCE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292608"/>
            <a:ext cx="5696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A8A6B3"/>
                </a:solidFill>
                <a:latin typeface="Consolas"/>
              </a:defRPr>
            </a:pPr>
            <a:r>
              <a:t>СЛАЙД 06 / 12  ·  ТЕХНИЧЕСКАЯ АРХИТЕКТУРА (100% ON-PREMISE)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094415" cy="13716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944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FF6B9B"/>
                </a:solidFill>
                <a:latin typeface="Consolas"/>
              </a:defRPr>
            </a:pPr>
            <a:r>
              <a:t>05 // АРХИТЕКТУРА СИСТЕМЫ</a:t>
            </a:r>
          </a:p>
          <a:p>
            <a:pPr>
              <a:spcBef>
                <a:spcPts val="400"/>
              </a:spcBef>
              <a:defRPr sz="2400" b="1">
                <a:solidFill>
                  <a:srgbClr val="FFFFFF"/>
                </a:solidFill>
                <a:latin typeface="Arial"/>
              </a:defRPr>
            </a:pPr>
            <a:r>
              <a:t>Единый автономный контур: React → FastAPI → 2 AI-модели → Хранилище</a:t>
            </a:r>
          </a:p>
          <a:p>
            <a:pPr>
              <a:spcBef>
                <a:spcPts val="400"/>
              </a:spcBef>
              <a:defRPr sz="1300">
                <a:solidFill>
                  <a:srgbClr val="A8A6B3"/>
                </a:solidFill>
                <a:latin typeface="Arial"/>
              </a:defRPr>
            </a:pPr>
            <a:r>
              <a:t>Ни одного внешнего сетевого вызова: даже библиотеки интерфейса (React, Tailwind) упакованы локально в /vendor.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331720"/>
            <a:ext cx="2587752" cy="3977639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496312"/>
            <a:ext cx="2185416" cy="3648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СЛОЙ 1 · FRONTEND &amp; CLI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React 18 + Скрипт Жюри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Веб-пульт на GET / (очередь 10 видео, плеер, таймлайн).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Автопроверка жюри через curl с заголовком X-API-Key.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Локальная раздача статики /vendor без внешних CDN.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83280" y="2331720"/>
            <a:ext cx="2587752" cy="3977639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584448" y="2496312"/>
            <a:ext cx="2185416" cy="3648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СЛОЙ 2 · BACKEND API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FastAPI + ThreadPool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POST /api/v1/analyze — приём .mov и мгновенный возврат job_id.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GET /api/v1/jobs/{id} — JSON строго по схеме Раздела 10 ТЗ.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ThreadPoolExecutor для неблокирующей очереди задач.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331720"/>
            <a:ext cx="2587752" cy="3977639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496312"/>
            <a:ext cx="2185416" cy="3648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СЛОЙ 3 · DUAL AI ENGINE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Двухмодельный пайплайн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Модель 1 (Объекты): детекция и классификация людей, рук, купюр, сумок и сейфа.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Модель 2 (Общая картина): оценка контекста всей сцены и временна́я локализация нарушений.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52560" y="2331720"/>
            <a:ext cx="2587752" cy="3977639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53728" y="2496312"/>
            <a:ext cx="2185416" cy="3648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СЛОЙ 4 · STORAGE &amp; LAW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Хранилище и База НБРК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Локальная папка uploads/ для стриминга видео в плеер.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Кодирование стоп-кадров в чистый JPEG base64.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Верифицированный справочник НБРК № 231 и № 250.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C81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1416"/>
                </a:solidFill>
                <a:latin typeface="Arial"/>
              </a:defRPr>
            </a:pPr>
            <a:r>
              <a:t>GASH.Контроль // AI COMPLIANCE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292608"/>
            <a:ext cx="5696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64"/>
                </a:solidFill>
                <a:latin typeface="Consolas"/>
              </a:defRPr>
            </a:pPr>
            <a:r>
              <a:t>СЛАЙД 07 / 12  ·  ДВУХМОДЕЛЬНАЯ АРХИТЕКТУРА ИИ (ШАБЛОН МЕТРИК)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094415" cy="13716"/>
          </a:xfrm>
          <a:prstGeom prst="rect">
            <a:avLst/>
          </a:prstGeom>
          <a:solidFill>
            <a:srgbClr val="D8D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944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81E58"/>
                </a:solidFill>
                <a:latin typeface="Consolas"/>
              </a:defRPr>
            </a:pPr>
            <a:r>
              <a:t>06 // ИСКУССТВЕННЫЙ ИНТЕЛЛЕКТ И COMPUTER VISION</a:t>
            </a:r>
          </a:p>
          <a:p>
            <a:pPr>
              <a:spcBef>
                <a:spcPts val="400"/>
              </a:spcBef>
              <a:defRPr sz="2400" b="1">
                <a:solidFill>
                  <a:srgbClr val="141416"/>
                </a:solidFill>
                <a:latin typeface="Arial"/>
              </a:defRPr>
            </a:pPr>
            <a:r>
              <a:t>Двухступенчатый AI-пайплайн: Локальные объекты + Общая картина сцены</a:t>
            </a:r>
          </a:p>
          <a:p>
            <a:pPr>
              <a:spcBef>
                <a:spcPts val="400"/>
              </a:spcBef>
              <a:defRPr sz="1300">
                <a:solidFill>
                  <a:srgbClr val="5A5A64"/>
                </a:solidFill>
                <a:latin typeface="Arial"/>
              </a:defRPr>
            </a:pPr>
            <a:r>
              <a:t>Синергия двух специализированных моделей: первая классифицирует объекты, вторая оценивает глобальный контекст.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40280"/>
            <a:ext cx="5486400" cy="196596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404872"/>
            <a:ext cx="5084064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91B47"/>
                </a:solidFill>
                <a:latin typeface="Consolas"/>
              </a:defRPr>
            </a:pPr>
            <a:r>
              <a:t>МОДЕЛЬ 1 // МИКРО-УРОВЕНЬ (ДЕТЕКЦИЯ И КЛАССИФИКАЦИЯ ОБЪЕКТОВ)</a:t>
            </a:r>
          </a:p>
          <a:p>
            <a:pPr>
              <a:spcBef>
                <a:spcPts val="600"/>
              </a:spcBef>
              <a:defRPr sz="1450" b="1">
                <a:solidFill>
                  <a:srgbClr val="141416"/>
                </a:solidFill>
                <a:latin typeface="Arial"/>
              </a:defRPr>
            </a:pPr>
            <a:r>
              <a:t>Локальный классификатор объектов в кадре [ВСТАВИТЬ: Архитектуру №1]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Задача: Точное распознавание ключевых сущностей (кассир, клиент, 3-е лицо, пачки купюр, инкассаторская сумка, дверца сейфа, счётчик, одежда/предметы на столе).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Выход Модели 1: Координаты объектов, их классы и состояния на каждом кадре.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4389120"/>
            <a:ext cx="5486400" cy="1965960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49808" y="4553712"/>
            <a:ext cx="5084064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МОДЕЛЬ 2 // МАКРО-УРОВЕНЬ (АНАЛИЗ ОБЩЕЙ КАРТИНЫ И СЦЕНЫ)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Глобальная модель контекста и действий [ВСТАВИТЬ: Архитектуру №2]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Задача: Смотрит на общую картину происходящего во времени (уход кассира при открытом сейфе, передача денег мимо счётчика, вход постороннего в зону кассы).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Устойчивость к смене ракурса: Оценивает семантику сцены и взаимодействие, отсекая ложные срабатывания.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2240280"/>
            <a:ext cx="2606040" cy="1965960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2404872"/>
            <a:ext cx="2203704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ТОЧНОСТЬ ВЕРДИКТА (F1)</a:t>
            </a:r>
          </a:p>
          <a:p>
            <a:pPr>
              <a:spcBef>
                <a:spcPts val="600"/>
              </a:spcBef>
              <a:defRPr sz="2600" b="1">
                <a:solidFill>
                  <a:srgbClr val="FF6B9B"/>
                </a:solidFill>
                <a:latin typeface="Arial"/>
              </a:defRPr>
            </a:pPr>
            <a:r>
              <a:t>[XX.X%]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Итоговый ансамбль (М1+М2)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Приоритет полноты (Recall), чтобы не пропустить инцидент.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9034272" y="2240280"/>
            <a:ext cx="2606040" cy="1965960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235440" y="2404872"/>
            <a:ext cx="2203704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ТОЧНОСТЬ ТАЙМКОДА</a:t>
            </a:r>
          </a:p>
          <a:p>
            <a:pPr>
              <a:spcBef>
                <a:spcPts val="600"/>
              </a:spcBef>
              <a:defRPr sz="2600" b="1">
                <a:solidFill>
                  <a:srgbClr val="FF6B9B"/>
                </a:solidFill>
                <a:latin typeface="Arial"/>
              </a:defRPr>
            </a:pPr>
            <a:r>
              <a:t>[±X.X с]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Модель 2 (Общая картина)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Погрешность локализации секунды нарушения.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4389120"/>
            <a:ext cx="2606040" cy="1965960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19088" y="4553712"/>
            <a:ext cx="2203704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КЛАССИФИКАЦИЯ ОБЪЕКТОВ</a:t>
            </a:r>
          </a:p>
          <a:p>
            <a:pPr>
              <a:spcBef>
                <a:spcPts val="600"/>
              </a:spcBef>
              <a:defRPr sz="2600" b="1">
                <a:solidFill>
                  <a:srgbClr val="FF6B9B"/>
                </a:solidFill>
                <a:latin typeface="Arial"/>
              </a:defRPr>
            </a:pPr>
            <a:r>
              <a:t>[XX.X%]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Модель 1 (mAP / Acc)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Люди, купюры, сумка, сейф, счётная машинка.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034272" y="4389120"/>
            <a:ext cx="2606040" cy="1965960"/>
          </a:xfrm>
          <a:prstGeom prst="roundRect">
            <a:avLst>
              <a:gd name="adj" fmla="val 4000"/>
            </a:avLst>
          </a:prstGeom>
          <a:solidFill>
            <a:srgbClr val="991B47"/>
          </a:solidFill>
          <a:ln>
            <a:solidFill>
              <a:srgbClr val="C81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235440" y="4553712"/>
            <a:ext cx="2203704" cy="16367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onsolas"/>
              </a:defRPr>
            </a:pPr>
            <a:r>
              <a:t>ВРЕМЯ ОБРАБОТКИ</a:t>
            </a:r>
          </a:p>
          <a:p>
            <a:pPr>
              <a:spcBef>
                <a:spcPts val="600"/>
              </a:spcBef>
              <a:defRPr sz="2600" b="1">
                <a:solidFill>
                  <a:srgbClr val="FFFFFF"/>
                </a:solidFill>
                <a:latin typeface="Arial"/>
              </a:defRPr>
            </a:pPr>
            <a:r>
              <a:t>[~X.X с]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Обе модели на 1 ролик</a:t>
            </a:r>
          </a:p>
          <a:p>
            <a:pPr>
              <a:spcBef>
                <a:spcPts val="400"/>
              </a:spcBef>
              <a:defRPr sz="1100">
                <a:solidFill>
                  <a:srgbClr val="F5E6EC"/>
                </a:solidFill>
                <a:latin typeface="Arial"/>
              </a:defRPr>
            </a:pPr>
            <a:r>
              <a:t>Быстрее лимита ТЗ (300 секунд) в десятки раз.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C81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1416"/>
                </a:solidFill>
                <a:latin typeface="Arial"/>
              </a:defRPr>
            </a:pPr>
            <a:r>
              <a:t>GASH.Контроль // AI COMPLIANCE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292608"/>
            <a:ext cx="5696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64"/>
                </a:solidFill>
                <a:latin typeface="Consolas"/>
              </a:defRPr>
            </a:pPr>
            <a:r>
              <a:t>СЛАЙД 08 / 12  ·  ПРИВЯЗКА К НОРМАТИВНОЙ БАЗЕ РК (ADILET.ZAN.KZ)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094415" cy="13716"/>
          </a:xfrm>
          <a:prstGeom prst="rect">
            <a:avLst/>
          </a:prstGeom>
          <a:solidFill>
            <a:srgbClr val="D8D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944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81E58"/>
                </a:solidFill>
                <a:latin typeface="Consolas"/>
              </a:defRPr>
            </a:pPr>
            <a:r>
              <a:t>07 // ЮРИДИЧЕСКАЯ ДОСТОВЕРНОСТЬ (КРИТЕРИЙ 4 — 15 БАЛЛОВ)</a:t>
            </a:r>
          </a:p>
          <a:p>
            <a:pPr>
              <a:spcBef>
                <a:spcPts val="400"/>
              </a:spcBef>
              <a:defRPr sz="2400" b="1">
                <a:solidFill>
                  <a:srgbClr val="141416"/>
                </a:solidFill>
                <a:latin typeface="Arial"/>
              </a:defRPr>
            </a:pPr>
            <a:r>
              <a:t>Классификатор нарушений и нормативные акты НБРК</a:t>
            </a:r>
          </a:p>
          <a:p>
            <a:pPr>
              <a:spcBef>
                <a:spcPts val="400"/>
              </a:spcBef>
              <a:defRPr sz="1300">
                <a:solidFill>
                  <a:srgbClr val="5A5A64"/>
                </a:solidFill>
                <a:latin typeface="Arial"/>
              </a:defRPr>
            </a:pPr>
            <a:r>
              <a:t>Верифицированный справочник реальных актов Национального Банка РК без нейросетевых галлюцинаций.</a:t>
            </a: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48640" y="2240280"/>
          <a:ext cx="11094415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474720"/>
                <a:gridCol w="3108960"/>
                <a:gridCol w="4510735"/>
              </a:tblGrid>
              <a:tr h="6858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Визуальный паттерн на видео</a:t>
                      </a:r>
                    </a:p>
                  </a:txBody>
                  <a:tcPr anchor="ctr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Тип события (type)</a:t>
                      </a:r>
                    </a:p>
                  </a:txBody>
                  <a:tcPr anchor="ctr">
                    <a:solidFill>
                      <a:srgbClr val="11111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Нормативный акт РК (ИПС «Әділет» — adilet.zan.kz)</a:t>
                      </a:r>
                    </a:p>
                  </a:txBody>
                  <a:tcPr anchor="ctr">
                    <a:solidFill>
                      <a:srgbClr val="111113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Прямая передача купюр между кассиром и клиентом мимо счётчика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Приём/выдача наличности без полистного пересчёта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Постановление Правления НБРК № 231 от 29.11.2019 (Гл. 2, Пар. 2 — Порядок приёма и выдачи наличных денег)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Кассир покидает помещение кассы, оставив купюры/сумку или открытый сейф</a:t>
                      </a:r>
                    </a:p>
                  </a:txBody>
                  <a:tcPr anchor="ctr">
                    <a:solidFill>
                      <a:srgbClr val="E9E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Оставление кассового узла и ценностей без присмотра</a:t>
                      </a:r>
                    </a:p>
                  </a:txBody>
                  <a:tcPr anchor="ctr">
                    <a:solidFill>
                      <a:srgbClr val="E9E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Постановление Правления НБРК № 231 (Гл. 2, Пар. 1) и Постановление НБРК № 250 от 24.08.2012</a:t>
                      </a:r>
                    </a:p>
                  </a:txBody>
                  <a:tcPr anchor="ctr">
                    <a:solidFill>
                      <a:srgbClr val="E9E5D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Вход третьего лица или клиента во внутреннюю зону кассира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Допуск постороннего лица в кассовое помещение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Постановление Правления НБРК № 250 (Ограничение доступа посторонних лиц в кассовый узел)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Приём/передача зелёной инкассаторской сумки без проверки пломбы и счёта</a:t>
                      </a:r>
                    </a:p>
                  </a:txBody>
                  <a:tcPr anchor="ctr">
                    <a:solidFill>
                      <a:srgbClr val="E9E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Нарушение регламента приёма инкассаторской сумки</a:t>
                      </a:r>
                    </a:p>
                  </a:txBody>
                  <a:tcPr anchor="ctr">
                    <a:solidFill>
                      <a:srgbClr val="E9E5DC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Постановление Правления НБРК № 231 (Гл. 3 — Порядок инкассации банкнот, монет и ценностей)</a:t>
                      </a:r>
                    </a:p>
                  </a:txBody>
                  <a:tcPr anchor="ctr">
                    <a:solidFill>
                      <a:srgbClr val="E9E5DC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Верхняя одежда, кружки с напитками или спрятанные купюры на столе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Посторонние предметы / нарушение порядка в кассе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141416"/>
                          </a:solidFill>
                          <a:latin typeface="Arial"/>
                        </a:defRPr>
                      </a:pPr>
                      <a:r>
                        <a:t>Постановление Правления НБРК № 231 (Требования к организации кассовой работы и рабочему месту)</a:t>
                      </a:r>
                    </a:p>
                  </a:txBody>
                  <a:tcPr anchor="ctr">
                    <a:solidFill>
                      <a:srgbClr val="F7F5F0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C81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1416"/>
                </a:solidFill>
                <a:latin typeface="Arial"/>
              </a:defRPr>
            </a:pPr>
            <a:r>
              <a:t>GASH.Контроль // AI COMPLIANCE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292608"/>
            <a:ext cx="5696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64"/>
                </a:solidFill>
                <a:latin typeface="Consolas"/>
              </a:defRPr>
            </a:pPr>
            <a:r>
              <a:t>СЛАЙД 09 / 12  ·  ЦЕЛЕВАЯ АУДИТОРИЯ И БИЗНЕС-ЭФФЕКТ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094415" cy="13716"/>
          </a:xfrm>
          <a:prstGeom prst="rect">
            <a:avLst/>
          </a:prstGeom>
          <a:solidFill>
            <a:srgbClr val="D8D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944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81E58"/>
                </a:solidFill>
                <a:latin typeface="Consolas"/>
              </a:defRPr>
            </a:pPr>
            <a:r>
              <a:t>08 // ПРИМЕНЕНИЕ В БАНКОВСКОМ СЕКТОРЕ</a:t>
            </a:r>
          </a:p>
          <a:p>
            <a:pPr>
              <a:spcBef>
                <a:spcPts val="400"/>
              </a:spcBef>
              <a:defRPr sz="2400" b="1">
                <a:solidFill>
                  <a:srgbClr val="141416"/>
                </a:solidFill>
                <a:latin typeface="Arial"/>
              </a:defRPr>
            </a:pPr>
            <a:r>
              <a:t>Для кого создан продукт и какой эффект он даёт банку</a:t>
            </a:r>
          </a:p>
          <a:p>
            <a:pPr>
              <a:spcBef>
                <a:spcPts val="400"/>
              </a:spcBef>
              <a:defRPr sz="1300">
                <a:solidFill>
                  <a:srgbClr val="5A5A64"/>
                </a:solidFill>
                <a:latin typeface="Arial"/>
              </a:defRPr>
            </a:pPr>
            <a:r>
              <a:t>Решение спроектировано для встраивания в процессы контроля филиальной сети ForteBank и банков второго уровня РК.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3520440" cy="324612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450592"/>
            <a:ext cx="3118104" cy="2916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91B47"/>
                </a:solidFill>
                <a:latin typeface="Consolas"/>
              </a:defRPr>
            </a:pPr>
            <a:r>
              <a:t>ПОЛЬЗОВАТЕЛЬ 01</a:t>
            </a:r>
          </a:p>
          <a:p>
            <a:pPr>
              <a:spcBef>
                <a:spcPts val="600"/>
              </a:spcBef>
              <a:defRPr sz="1450" b="1">
                <a:solidFill>
                  <a:srgbClr val="141416"/>
                </a:solidFill>
                <a:latin typeface="Arial"/>
              </a:defRPr>
            </a:pPr>
            <a:r>
              <a:t>Департамент кассовых операций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Ежедневный пост-контроль кассовых смен во всех филиалах: проверка соблюдения полистного пересчёта и регламента работы с инкассацией.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Эффект: 100% охват видеоархива.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2286000"/>
            <a:ext cx="3520440" cy="324612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2450592"/>
            <a:ext cx="3118104" cy="2916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91B47"/>
                </a:solidFill>
                <a:latin typeface="Consolas"/>
              </a:defRPr>
            </a:pPr>
            <a:r>
              <a:t>ПОЛЬЗОВАТЕЛЬ 02</a:t>
            </a:r>
          </a:p>
          <a:p>
            <a:pPr>
              <a:spcBef>
                <a:spcPts val="600"/>
              </a:spcBef>
              <a:defRPr sz="1450" b="1">
                <a:solidFill>
                  <a:srgbClr val="141416"/>
                </a:solidFill>
                <a:latin typeface="Arial"/>
              </a:defRPr>
            </a:pPr>
            <a:r>
              <a:t>Внутренний аудит и Комплаенс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Готовая доказательная база (стоп-кадры + таймкод + норма Постановления НБРК) для формирования актов служебных проверок.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Эффект: Юридически значимое досье.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2286000"/>
            <a:ext cx="3520440" cy="324612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2450592"/>
            <a:ext cx="3118104" cy="291693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91B47"/>
                </a:solidFill>
                <a:latin typeface="Consolas"/>
              </a:defRPr>
            </a:pPr>
            <a:r>
              <a:t>ПОЛЬЗОВАТЕЛЬ 03</a:t>
            </a:r>
          </a:p>
          <a:p>
            <a:pPr>
              <a:spcBef>
                <a:spcPts val="600"/>
              </a:spcBef>
              <a:defRPr sz="1450" b="1">
                <a:solidFill>
                  <a:srgbClr val="141416"/>
                </a:solidFill>
                <a:latin typeface="Arial"/>
              </a:defRPr>
            </a:pPr>
            <a:r>
              <a:t>Служба безопасности банка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Быстрое расследование критических инцидентов: оставление открытого сейфа, вход посторонних лиц в кассовый узел, вынос ценностей.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Эффект: Превентивная защита.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548640" y="5687568"/>
            <a:ext cx="11094415" cy="777240"/>
          </a:xfrm>
          <a:prstGeom prst="roundRect">
            <a:avLst>
              <a:gd name="adj" fmla="val 4000"/>
            </a:avLst>
          </a:prstGeom>
          <a:solidFill>
            <a:srgbClr val="991B47"/>
          </a:solidFill>
          <a:ln>
            <a:solidFill>
              <a:srgbClr val="C81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49808" y="5852159"/>
            <a:ext cx="10692079" cy="4480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onsolas"/>
              </a:defRPr>
            </a:pPr>
            <a:r>
              <a:t>МАСШТАБИРУЕМОСТЬ В РК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Единый стандарт НБРК № 231/250 позволяет тиражировать продукт на все БВУ и обменные пункты Казахстана.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C81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1416"/>
                </a:solidFill>
                <a:latin typeface="Arial"/>
              </a:defRPr>
            </a:pPr>
            <a:r>
              <a:t>GASH.Контроль // AI COMPLIANCE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292608"/>
            <a:ext cx="5696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64"/>
                </a:solidFill>
                <a:latin typeface="Consolas"/>
              </a:defRPr>
            </a:pPr>
            <a:r>
              <a:t>СЛАЙД 10 / 12  ·  КОНКУРЕНТНЫЕ ПРЕИМУЩЕСТВА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094415" cy="13716"/>
          </a:xfrm>
          <a:prstGeom prst="rect">
            <a:avLst/>
          </a:prstGeom>
          <a:solidFill>
            <a:srgbClr val="D8D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944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81E58"/>
                </a:solidFill>
                <a:latin typeface="Consolas"/>
              </a:defRPr>
            </a:pPr>
            <a:r>
              <a:t>09 // ОТЛИЧИЯ ОТ АНАЛОГОВ</a:t>
            </a:r>
          </a:p>
          <a:p>
            <a:pPr>
              <a:spcBef>
                <a:spcPts val="400"/>
              </a:spcBef>
              <a:defRPr sz="2400" b="1">
                <a:solidFill>
                  <a:srgbClr val="141416"/>
                </a:solidFill>
                <a:latin typeface="Arial"/>
              </a:defRPr>
            </a:pPr>
            <a:r>
              <a:t>Почему GASH.Контроль выигрывает у стандартных решений</a:t>
            </a:r>
          </a:p>
          <a:p>
            <a:pPr>
              <a:spcBef>
                <a:spcPts val="400"/>
              </a:spcBef>
              <a:defRPr sz="1300">
                <a:solidFill>
                  <a:srgbClr val="5A5A64"/>
                </a:solidFill>
                <a:latin typeface="Arial"/>
              </a:defRPr>
            </a:pPr>
            <a:r>
              <a:t>Сравнение обычных прототипов видеоаналитики и специализированного пульта GASH.Контроль.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394960" cy="406908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450592"/>
            <a:ext cx="4992624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91B47"/>
                </a:solidFill>
                <a:latin typeface="Consolas"/>
              </a:defRPr>
            </a:pPr>
            <a:r>
              <a:t>ОБЫЧНЫЕ ПРОТОТИПЫ И VMS-СИСТЕМЫ</a:t>
            </a:r>
          </a:p>
          <a:p>
            <a:pPr>
              <a:spcBef>
                <a:spcPts val="600"/>
              </a:spcBef>
              <a:defRPr sz="1450" b="1">
                <a:solidFill>
                  <a:srgbClr val="141416"/>
                </a:solidFill>
                <a:latin typeface="Arial"/>
              </a:defRPr>
            </a:pPr>
            <a:r>
              <a:t>Типичные слабые места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Поштучная загрузка: ревизор вынужден ждать окончания каждого файла, прежде чем добавить следующий.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Горизонтальный плеер 16:9 обрезает верх и низ вертикального кадра 464×848 (теряется зона двери или сейфа).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Одиночные детекторы реагируют на любое движение без понимания общей картины и правил НБРК.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Зависимость от внешних CDN или облачных LLM, которые блокируются в закрытой сети банка.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2286000"/>
            <a:ext cx="5394960" cy="4069080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450592"/>
            <a:ext cx="4992624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ПРЕИМУЩЕСТВА GASH.Контроль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Что сделали мы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Двухмодельная архитектура ИИ: Классификатор объектов + Модель общей картины сцены.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Пакетная мульти-очередь до 10 видео: Загрузка сразу всей пачки роликов с живым прогресс-баром и переключением в 1 клик.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Нативная поддержка вертикального ракурса (464×848) + Waveform-спектр таймкодов и скорость 0.25x / 0.5x.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100% Offline-архитектура: Полная автономность вплоть до локальных JS-библиотек в папке /vendor.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FECE6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C81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141416"/>
                </a:solidFill>
                <a:latin typeface="Arial"/>
              </a:defRPr>
            </a:pPr>
            <a:r>
              <a:t>GASH.Контроль // AI COMPLIANCE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292608"/>
            <a:ext cx="5696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5A5A64"/>
                </a:solidFill>
                <a:latin typeface="Consolas"/>
              </a:defRPr>
            </a:pPr>
            <a:r>
              <a:t>СЛАЙД 11 / 12  ·  РЕЗУЛЬТАТЫ, ОГРАНИЧЕНИЯ И ROADMAP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094415" cy="13716"/>
          </a:xfrm>
          <a:prstGeom prst="rect">
            <a:avLst/>
          </a:prstGeom>
          <a:solidFill>
            <a:srgbClr val="D8D3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841248"/>
            <a:ext cx="11094415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50" b="1">
                <a:solidFill>
                  <a:srgbClr val="C81E58"/>
                </a:solidFill>
                <a:latin typeface="Consolas"/>
              </a:defRPr>
            </a:pPr>
            <a:r>
              <a:t>10 // ЧЕСТНЫЙ АНАЛИЗ (РАЗДЕЛ 8 П. 6 ТЗ) И ПЛАН РАЗВИТИЯ</a:t>
            </a:r>
          </a:p>
          <a:p>
            <a:pPr>
              <a:spcBef>
                <a:spcPts val="400"/>
              </a:spcBef>
              <a:defRPr sz="2400" b="1">
                <a:solidFill>
                  <a:srgbClr val="141416"/>
                </a:solidFill>
                <a:latin typeface="Arial"/>
              </a:defRPr>
            </a:pPr>
            <a:r>
              <a:t>Текущие ограничения и Roadmap внедрения в ForteBank</a:t>
            </a:r>
          </a:p>
          <a:p>
            <a:pPr>
              <a:spcBef>
                <a:spcPts val="400"/>
              </a:spcBef>
              <a:defRPr sz="1300">
                <a:solidFill>
                  <a:srgbClr val="5A5A64"/>
                </a:solidFill>
                <a:latin typeface="Arial"/>
              </a:defRPr>
            </a:pPr>
            <a:r>
              <a:t>Прозрачная оценка границ применимости видеоаналитики и план промышленного запуска на 1–3 месяца.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2286000"/>
            <a:ext cx="5394960" cy="4069080"/>
          </a:xfrm>
          <a:prstGeom prst="roundRect">
            <a:avLst>
              <a:gd name="adj" fmla="val 4000"/>
            </a:avLst>
          </a:prstGeom>
          <a:solidFill>
            <a:srgbClr val="F7F5F0"/>
          </a:solidFill>
          <a:ln>
            <a:solidFill>
              <a:srgbClr val="D8D3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2450592"/>
            <a:ext cx="4992624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991B47"/>
                </a:solidFill>
                <a:latin typeface="Consolas"/>
              </a:defRPr>
            </a:pPr>
            <a:r>
              <a:t>ЧЕСТНЫЕ ОГРАНИЧЕНИЯ И РИСКИ</a:t>
            </a:r>
          </a:p>
          <a:p>
            <a:pPr>
              <a:spcBef>
                <a:spcPts val="600"/>
              </a:spcBef>
              <a:defRPr sz="1450" b="1">
                <a:solidFill>
                  <a:srgbClr val="141416"/>
                </a:solidFill>
                <a:latin typeface="Arial"/>
              </a:defRPr>
            </a:pPr>
            <a:r>
              <a:t>Границы применимости текущей версии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Перекрытие обзора (Occlusion): Если при нестандартном угле камеры кассир полностью закрывает корпусом стол, точность детекции мелких купюр снижается.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Отсутствие связки с АБИС (Раздел 7 ТЗ): Видеоаналитика фиксирует только визуально наблюдаемые действия и не проверяет сумму проводки в системе.</a:t>
            </a:r>
          </a:p>
          <a:p>
            <a:pPr>
              <a:spcBef>
                <a:spcPts val="400"/>
              </a:spcBef>
              <a:defRPr sz="1100">
                <a:solidFill>
                  <a:srgbClr val="5A5A64"/>
                </a:solidFill>
                <a:latin typeface="Arial"/>
              </a:defRPr>
            </a:pPr>
            <a:r>
              <a:t>■ Резкое выключение освещения: При полном погашении света в кассе детекция опирается на факт выхода кассира до момента выключения.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5352" y="2286000"/>
            <a:ext cx="5394960" cy="4069080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2450592"/>
            <a:ext cx="4992624" cy="3739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ROADMAP РАЗВИТИЯ (1–3 МЕСЯЦА)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Путь к промышленному внедрению в банке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Этап 1 (Месяц 1) — UI-калибровка ракурса за 30 секунд: Интерактивная разметка полигонов зон (сейф, счётчик, дверь) прямо в браузере для новых камер.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Этап 2 (Месяц 2) — Прямой захват RTSP-потоков NVR: Переход от загрузки файлов .mov к анализу потокового видео с камер отделений в реальном времени.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■ Этап 3 (Месяц 3) — Кросс-сверка с логами счётчиков и АБИС: Сопоставление таймкода передачи денег с аппаратным сигналом счётной машинки.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113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548640" y="384048"/>
            <a:ext cx="128016" cy="128016"/>
          </a:xfrm>
          <a:prstGeom prst="ellipse">
            <a:avLst/>
          </a:prstGeom>
          <a:solidFill>
            <a:srgbClr val="C81E5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49808" y="292608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000" b="1">
                <a:solidFill>
                  <a:srgbClr val="FFFFFF"/>
                </a:solidFill>
                <a:latin typeface="Arial"/>
              </a:defRPr>
            </a:pPr>
            <a:r>
              <a:t>GASH.Контроль // AI COMPLIANCE STUDIO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292608"/>
            <a:ext cx="569671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950">
                <a:solidFill>
                  <a:srgbClr val="A8A6B3"/>
                </a:solidFill>
                <a:latin typeface="Consolas"/>
              </a:defRPr>
            </a:pPr>
            <a:r>
              <a:t>СЛАЙД 12 / 12  ·  СПАСИБО ЗА ВНИМАНИЕ! ВОПРОСЫ И ЖИВОЕ ДЕМО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685800"/>
            <a:ext cx="11094415" cy="13716"/>
          </a:xfrm>
          <a:prstGeom prst="rect">
            <a:avLst/>
          </a:prstGeom>
          <a:solidFill>
            <a:srgbClr val="2D2D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34440"/>
            <a:ext cx="10789920" cy="2651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1">
                <a:solidFill>
                  <a:srgbClr val="FF6B9B"/>
                </a:solidFill>
                <a:latin typeface="Consolas"/>
              </a:defRPr>
            </a:pPr>
            <a:r>
              <a:t>● FORTEBANK DATATHON 26  ·  ФИНАЛЬНАЯ ЗАЩИТА ПРОЕКТА</a:t>
            </a:r>
          </a:p>
          <a:p>
            <a:pPr>
              <a:spcBef>
                <a:spcPts val="1000"/>
              </a:spcBef>
              <a:defRPr sz="3800" b="1">
                <a:solidFill>
                  <a:srgbClr val="FFFFFF"/>
                </a:solidFill>
                <a:latin typeface="Arial"/>
              </a:defRPr>
            </a:pPr>
            <a:r>
              <a:t>Спасибо за внимание!</a:t>
            </a:r>
            <a:br/>
            <a:r>
              <a:t>Готовы к вопросам и живому демо</a:t>
            </a:r>
          </a:p>
          <a:p>
            <a:pPr>
              <a:spcBef>
                <a:spcPts val="1000"/>
              </a:spcBef>
              <a:defRPr sz="1500">
                <a:solidFill>
                  <a:srgbClr val="A8A6B3"/>
                </a:solidFill>
                <a:latin typeface="Arial"/>
              </a:defRPr>
            </a:pPr>
            <a:r>
              <a:t>Веб-интерфейс и REST API развёрнуты локально и полностью готовы к проверке на закрытом тестовом датасете жюри.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420624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49808" y="4370831"/>
            <a:ext cx="3118104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ВЕБ-ИНТЕРФЕЙС И ДЕМО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http://localhost:8000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Публичный туннель для жюри подключается одной командой без перезапуска сервера.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334256" y="420624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1B1B1F"/>
          </a:solidFill>
          <a:ln>
            <a:solidFill>
              <a:srgbClr val="3232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535424" y="4370831"/>
            <a:ext cx="3118104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6B9B"/>
                </a:solidFill>
                <a:latin typeface="Consolas"/>
              </a:defRPr>
            </a:pPr>
            <a:r>
              <a:t>ЭНДПОИНТЫ АВТОПРОВЕРКИ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POST /api/v1/analyze</a:t>
            </a:r>
            <a:br/>
            <a:r>
              <a:t>GET /api/v1/jobs/{id}</a:t>
            </a:r>
          </a:p>
          <a:p>
            <a:pPr>
              <a:spcBef>
                <a:spcPts val="400"/>
              </a:spcBef>
              <a:defRPr sz="1100">
                <a:solidFill>
                  <a:srgbClr val="A8A6B3"/>
                </a:solidFill>
                <a:latin typeface="Arial"/>
              </a:defRPr>
            </a:pPr>
            <a:r>
              <a:t>Заголовок авторизации жюри:</a:t>
            </a:r>
            <a:br/>
            <a:r>
              <a:t>X-API-Key: forte-datathon-2026-key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119872" y="4206240"/>
            <a:ext cx="3520440" cy="2148840"/>
          </a:xfrm>
          <a:prstGeom prst="roundRect">
            <a:avLst>
              <a:gd name="adj" fmla="val 4000"/>
            </a:avLst>
          </a:prstGeom>
          <a:solidFill>
            <a:srgbClr val="991B47"/>
          </a:solidFill>
          <a:ln>
            <a:solidFill>
              <a:srgbClr val="C81E5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21040" y="4370831"/>
            <a:ext cx="3118104" cy="1819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950" b="1">
                <a:solidFill>
                  <a:srgbClr val="FFFFFF"/>
                </a:solidFill>
                <a:latin typeface="Consolas"/>
              </a:defRPr>
            </a:pPr>
            <a:r>
              <a:t>КОМАНДА GASH.Контроль</a:t>
            </a:r>
          </a:p>
          <a:p>
            <a:pPr>
              <a:spcBef>
                <a:spcPts val="600"/>
              </a:spcBef>
              <a:defRPr sz="1450" b="1">
                <a:solidFill>
                  <a:srgbClr val="FFFFFF"/>
                </a:solidFill>
                <a:latin typeface="Arial"/>
              </a:defRPr>
            </a:pPr>
            <a:r>
              <a:t>Madi · Amire · Zhankerey · Damir</a:t>
            </a:r>
          </a:p>
          <a:p>
            <a:pPr>
              <a:spcBef>
                <a:spcPts val="400"/>
              </a:spcBef>
              <a:defRPr sz="1100">
                <a:solidFill>
                  <a:srgbClr val="F5E6EC"/>
                </a:solidFill>
                <a:latin typeface="Arial"/>
              </a:defRPr>
            </a:pPr>
            <a:r>
              <a:t>Готовы запустить анализ любого тестового видео .mov прямо сейчас в прямом эфире.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